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02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2048B-6C63-6D10-3E2F-99576A451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59FB8-465F-45A7-F009-D8FD29006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00C2A-F223-B47D-7CE4-088DE65C7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344F1-FFAC-850C-4787-559C15A3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DD188-5DB9-9F66-F2A0-F3E41272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11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2725-92F5-4EF2-8338-ECC0DB0A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1D8E-1540-F1BB-C42D-610D51FDB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D89F1-4559-1A88-716B-1F991459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C5649-81D7-A3A3-BE25-B31561214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0C374-50E7-6E14-1D10-A808484C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57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E173-E258-C189-7908-3604DFD1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D5590-5757-5ADA-B838-CE963AB11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B474F-09D4-AE08-C1BF-C9333805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70A12-1D9C-DE46-447F-BA0C4748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CF3A2-1862-8B26-62E6-80742242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52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9289B-CB33-1620-6553-76C69742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7576E-9359-AEE8-B8C3-7CA26529F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2CDC2-3B74-6454-BEBC-3B6B19382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B6BB8-FE89-E5B2-5629-5B904317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8C4A4-5E16-3C0B-5D7E-B1D11D03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FDE89-30BA-6E11-D9CC-471C43D1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34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CBE8-0DEA-4CA8-2D59-958C49F0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15871-81BF-FEE5-DD4F-F1BB42FA9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31769-D2E2-61B9-C4A2-F0ABD5E00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2AC30-E0A7-8519-C206-62F79D5A4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D063C-661D-CF8E-A6B1-7F5F08E1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E400C0-AAC9-CBA1-4FDC-F2A303539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7019C-E44A-49AC-F160-D2DEC070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F088D-4568-7E16-0BFA-CB1810F4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18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04CD-437A-CD59-C164-A0DBACA0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A29BB-5A1A-BFC6-EACA-DE5141ED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99728-7A48-1CBD-39B5-F1097C2B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61ACD-97F8-2A8F-FDCC-BE5100F3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10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80BE4-D672-5AD5-F749-37061164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A1D67-1AF4-2BBD-B626-6F035130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7E69B-C6EB-C901-203B-575F047D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01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78C8-E6FF-4EE9-D017-DAF08B14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25E68-7EFB-A3FC-3643-7E6C49D8B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926E4-3871-596B-15E8-992A546DA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DE0D3-6E50-3E33-0F38-87D084FD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317A2-4F02-68BF-F263-7FA39744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4806-ECDF-B7EF-C3EE-DF2EB4D7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56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9972-1145-3060-FE4A-4F86AC4B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2FAF63-D6E2-C3AD-70F4-C6AD467DF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445D3-2DB0-6056-70E2-CEB9819FB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1749-BBDC-4D13-B2C5-5645BD6F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0DC5E-2991-8885-9CDA-8B5FD018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C5B4D-A461-3A5C-0026-418AE220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0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5BAA-4519-8B74-E434-0F3094C8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A2903-1FFB-A4B5-4CBB-4FA220933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96F07-D71B-ADAF-B998-FD7D819E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CC0D0-E1B1-4963-2FC5-76C4AAF6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A679A-ACAD-794A-BF02-0FC64BC5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9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CA60B-B57D-6822-51F3-8C5E2DB01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507DE-52AC-A3BD-C57F-87B7E544B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27CDB-2A55-1CFA-6781-C5183866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078C1-97DC-7D1C-E99B-FFF42E58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1E1A3-8E4F-1B62-317E-CFD7343B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58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B735B-8DF4-ABD7-50DF-4C5DA3C47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CC37C-030E-A94F-8EA5-4DBAAC741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58CD7-412C-2545-4AFE-424354D31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2963F-54A8-42EC-9181-6836300F460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D8852-5D07-9BD3-E07E-7E54B9DE9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C3502-905A-AF9E-822F-DEBEFC785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671C0-868B-4BFF-A58B-28F8654C36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77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8C5E61-3615-F3A4-F58D-A0D60A2F5E06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AlcoveHire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70FCE-839A-2491-0BE4-257CE82331D7}"/>
              </a:ext>
            </a:extLst>
          </p:cNvPr>
          <p:cNvSpPr txBox="1"/>
          <p:nvPr/>
        </p:nvSpPr>
        <p:spPr>
          <a:xfrm>
            <a:off x="457200" y="12065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>
                <a:latin typeface="Calibri" panose="020F0502020204030204" pitchFamily="34" charset="0"/>
              </a:rPr>
              <a:t>AI-Powered Recruitment Platform for High-Velocity Hiring Teams</a:t>
            </a:r>
          </a:p>
          <a:p>
            <a:r>
              <a:rPr lang="en-US" sz="2200">
                <a:latin typeface="Calibri" panose="020F0502020204030204" pitchFamily="34" charset="0"/>
              </a:rPr>
              <a:t>Alcove Infotech | Investor Deck</a:t>
            </a:r>
            <a:endParaRPr lang="en-IN" sz="2200"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C8E035-84CA-ACFA-60F3-45CF68224E42}"/>
              </a:ext>
            </a:extLst>
          </p:cNvPr>
          <p:cNvSpPr/>
          <p:nvPr/>
        </p:nvSpPr>
        <p:spPr>
          <a:xfrm>
            <a:off x="7112000" y="1206500"/>
            <a:ext cx="4064000" cy="279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Vision</a:t>
            </a:r>
          </a:p>
          <a:p>
            <a:pPr algn="ctr"/>
            <a:r>
              <a:rPr lang="en-US"/>
              <a:t>Faster shortlists</a:t>
            </a:r>
          </a:p>
          <a:p>
            <a:pPr algn="ctr"/>
            <a:r>
              <a:rPr lang="en-US"/>
              <a:t>Better conversions</a:t>
            </a:r>
          </a:p>
          <a:p>
            <a:pPr algn="ctr"/>
            <a:r>
              <a:rPr lang="en-US"/>
              <a:t>Predictable productivity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81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480E5D-6B84-8133-750A-FB5F026AD187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98B82-8E75-017E-9585-9130581CE63C}"/>
              </a:ext>
            </a:extLst>
          </p:cNvPr>
          <p:cNvSpPr txBox="1"/>
          <p:nvPr/>
        </p:nvSpPr>
        <p:spPr>
          <a:xfrm>
            <a:off x="609600" y="1270000"/>
            <a:ext cx="10668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â€¢ Candidate data scattered across sheets, email, and chat.</a:t>
            </a:r>
          </a:p>
          <a:p>
            <a:r>
              <a:rPr lang="en-US" sz="2000">
                <a:latin typeface="Calibri" panose="020F0502020204030204" pitchFamily="34" charset="0"/>
              </a:rPr>
              <a:t>â€¢ Slow requirement-to-shortlist turnaround.</a:t>
            </a:r>
          </a:p>
          <a:p>
            <a:r>
              <a:rPr lang="en-US" sz="2000">
                <a:latin typeface="Calibri" panose="020F0502020204030204" pitchFamily="34" charset="0"/>
              </a:rPr>
              <a:t>â€¢ Limited visibility into pipeline and productivity.</a:t>
            </a:r>
          </a:p>
          <a:p>
            <a:r>
              <a:rPr lang="en-US" sz="2000">
                <a:latin typeface="Calibri" panose="020F0502020204030204" pitchFamily="34" charset="0"/>
              </a:rPr>
              <a:t>â€¢ Legacy ATS tools are costly for SMB teams.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DAC87-A1CC-DD55-18D9-40C019062583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1B9D2-4E7C-2C52-9072-BB3EBD14F7A8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2</a:t>
            </a:r>
          </a:p>
        </p:txBody>
      </p:sp>
    </p:spTree>
    <p:extLst>
      <p:ext uri="{BB962C8B-B14F-4D97-AF65-F5344CB8AC3E}">
        <p14:creationId xmlns:p14="http://schemas.microsoft.com/office/powerpoint/2010/main" val="1419532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72B06F-0A37-631D-63A9-C3FD44C190C5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FC8F35-5593-546D-12F1-56236CA7A43E}"/>
              </a:ext>
            </a:extLst>
          </p:cNvPr>
          <p:cNvSpPr txBox="1"/>
          <p:nvPr/>
        </p:nvSpPr>
        <p:spPr>
          <a:xfrm>
            <a:off x="609600" y="1270000"/>
            <a:ext cx="10668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>
                <a:latin typeface="Calibri" panose="020F0502020204030204" pitchFamily="34" charset="0"/>
              </a:rPr>
              <a:t>â€¢ Unified ATS workflows in one platform.</a:t>
            </a:r>
          </a:p>
          <a:p>
            <a:r>
              <a:rPr lang="en-IN" sz="2000">
                <a:latin typeface="Calibri" panose="020F0502020204030204" pitchFamily="34" charset="0"/>
              </a:rPr>
              <a:t>â€¢ Embedded AI for parsing, scoring, and summaries.</a:t>
            </a:r>
          </a:p>
          <a:p>
            <a:r>
              <a:rPr lang="en-IN" sz="2000">
                <a:latin typeface="Calibri" panose="020F0502020204030204" pitchFamily="34" charset="0"/>
              </a:rPr>
              <a:t>â€¢ Role-based dashboards for recruiters and managers.</a:t>
            </a:r>
          </a:p>
          <a:p>
            <a:r>
              <a:rPr lang="en-IN" sz="2000">
                <a:latin typeface="Calibri" panose="020F0502020204030204" pitchFamily="34" charset="0"/>
              </a:rPr>
              <a:t>â€¢ Credit-based AI model for monetization.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8144B-305D-D97A-9218-A52DC699518F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68600-1D0D-EFAD-F2CC-C08F87357BAD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3</a:t>
            </a:r>
          </a:p>
        </p:txBody>
      </p:sp>
    </p:spTree>
    <p:extLst>
      <p:ext uri="{BB962C8B-B14F-4D97-AF65-F5344CB8AC3E}">
        <p14:creationId xmlns:p14="http://schemas.microsoft.com/office/powerpoint/2010/main" val="1418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F340F-4245-C768-8D99-356E23A512B0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Product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0DC8B-ABB9-6DB6-48B2-A570C860F065}"/>
              </a:ext>
            </a:extLst>
          </p:cNvPr>
          <p:cNvSpPr txBox="1"/>
          <p:nvPr/>
        </p:nvSpPr>
        <p:spPr>
          <a:xfrm>
            <a:off x="609600" y="1270000"/>
            <a:ext cx="10668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Requirement -&gt; AI Match -&gt; Interview -&gt; Offer -&gt; Invoice</a:t>
            </a:r>
          </a:p>
          <a:p>
            <a:r>
              <a:rPr lang="en-US" sz="2000">
                <a:latin typeface="Calibri" panose="020F0502020204030204" pitchFamily="34" charset="0"/>
              </a:rPr>
              <a:t>Outcome: faster shortlisting, better conversion, better revenue visibility.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AD27C-61F9-DDDE-4C30-68A074CEED0E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D07E-2A50-ED9C-CD70-9B8FFF7621CA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4</a:t>
            </a:r>
          </a:p>
        </p:txBody>
      </p:sp>
    </p:spTree>
    <p:extLst>
      <p:ext uri="{BB962C8B-B14F-4D97-AF65-F5344CB8AC3E}">
        <p14:creationId xmlns:p14="http://schemas.microsoft.com/office/powerpoint/2010/main" val="396232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856F59-DEBB-33BF-D88E-62F4A22AF2FA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Market Opportunity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C09A9-5C36-2ADA-CBAB-E4D5F9574B73}"/>
              </a:ext>
            </a:extLst>
          </p:cNvPr>
          <p:cNvSpPr txBox="1"/>
          <p:nvPr/>
        </p:nvSpPr>
        <p:spPr>
          <a:xfrm>
            <a:off x="609600" y="1270000"/>
            <a:ext cx="10668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>
                <a:latin typeface="Calibri" panose="020F0502020204030204" pitchFamily="34" charset="0"/>
              </a:rPr>
              <a:t>TAM: INR 8,000 Cr</a:t>
            </a:r>
          </a:p>
          <a:p>
            <a:r>
              <a:rPr lang="en-IN" sz="2000">
                <a:latin typeface="Calibri" panose="020F0502020204030204" pitchFamily="34" charset="0"/>
              </a:rPr>
              <a:t>SAM: INR 1,800 Cr</a:t>
            </a:r>
          </a:p>
          <a:p>
            <a:r>
              <a:rPr lang="en-IN" sz="2000">
                <a:latin typeface="Calibri" panose="020F0502020204030204" pitchFamily="34" charset="0"/>
              </a:rPr>
              <a:t>SOM (3Y): INR 180 Cr</a:t>
            </a:r>
          </a:p>
          <a:p>
            <a:r>
              <a:rPr lang="en-IN" sz="2000">
                <a:latin typeface="Calibri" panose="020F0502020204030204" pitchFamily="34" charset="0"/>
              </a:rPr>
              <a:t>Focused agency-first GTM motion.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BE4AF-E911-5FE6-3F03-CEEBAE1DC5BA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B44EA-7AD3-BC76-1793-E2BFFCD71443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5</a:t>
            </a:r>
          </a:p>
        </p:txBody>
      </p:sp>
    </p:spTree>
    <p:extLst>
      <p:ext uri="{BB962C8B-B14F-4D97-AF65-F5344CB8AC3E}">
        <p14:creationId xmlns:p14="http://schemas.microsoft.com/office/powerpoint/2010/main" val="1402890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4C15E9-8920-5FB3-289C-9A1863612BEF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Business Model and Pricing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4B8F9-4860-9083-A73C-1B971677B6D5}"/>
              </a:ext>
            </a:extLst>
          </p:cNvPr>
          <p:cNvSpPr txBox="1"/>
          <p:nvPr/>
        </p:nvSpPr>
        <p:spPr>
          <a:xfrm>
            <a:off x="609600" y="1270000"/>
            <a:ext cx="10668000" cy="16312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Starter: INR 2,999/month</a:t>
            </a:r>
          </a:p>
          <a:p>
            <a:r>
              <a:rPr lang="en-US" sz="2000">
                <a:latin typeface="Calibri" panose="020F0502020204030204" pitchFamily="34" charset="0"/>
              </a:rPr>
              <a:t>Growth: INR 7,999/month</a:t>
            </a:r>
          </a:p>
          <a:p>
            <a:r>
              <a:rPr lang="en-US" sz="2000">
                <a:latin typeface="Calibri" panose="020F0502020204030204" pitchFamily="34" charset="0"/>
              </a:rPr>
              <a:t>Business: INR 18,999/month</a:t>
            </a:r>
          </a:p>
          <a:p>
            <a:r>
              <a:rPr lang="en-US" sz="2000">
                <a:latin typeface="Calibri" panose="020F0502020204030204" pitchFamily="34" charset="0"/>
              </a:rPr>
              <a:t>Yearly plans: 20% discount</a:t>
            </a:r>
          </a:p>
          <a:p>
            <a:r>
              <a:rPr lang="en-US" sz="2000">
                <a:latin typeface="Calibri" panose="020F0502020204030204" pitchFamily="34" charset="0"/>
              </a:rPr>
              <a:t>Add-ons: extra seats + AI credits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F3034-6262-214A-DE1B-1ECA3035879A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5330B-6D87-5DB3-E1D4-2DF543034CF7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6</a:t>
            </a:r>
          </a:p>
        </p:txBody>
      </p:sp>
    </p:spTree>
    <p:extLst>
      <p:ext uri="{BB962C8B-B14F-4D97-AF65-F5344CB8AC3E}">
        <p14:creationId xmlns:p14="http://schemas.microsoft.com/office/powerpoint/2010/main" val="2388857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02A4B3-5F53-A328-4950-4E219944494B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Go-To-Market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364BF-839E-77A0-A6FE-407F91D0EC38}"/>
              </a:ext>
            </a:extLst>
          </p:cNvPr>
          <p:cNvSpPr txBox="1"/>
          <p:nvPr/>
        </p:nvSpPr>
        <p:spPr>
          <a:xfrm>
            <a:off x="609600" y="1270000"/>
            <a:ext cx="10668000" cy="16312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Outbound: 1000 contacts/month</a:t>
            </a:r>
          </a:p>
          <a:p>
            <a:r>
              <a:rPr lang="en-US" sz="2000">
                <a:latin typeface="Calibri" panose="020F0502020204030204" pitchFamily="34" charset="0"/>
              </a:rPr>
              <a:t>Discovery: 150 calls/month</a:t>
            </a:r>
          </a:p>
          <a:p>
            <a:r>
              <a:rPr lang="en-US" sz="2000">
                <a:latin typeface="Calibri" panose="020F0502020204030204" pitchFamily="34" charset="0"/>
              </a:rPr>
              <a:t>Demos: 60/month</a:t>
            </a:r>
          </a:p>
          <a:p>
            <a:r>
              <a:rPr lang="en-US" sz="2000">
                <a:latin typeface="Calibri" panose="020F0502020204030204" pitchFamily="34" charset="0"/>
              </a:rPr>
              <a:t>Trials: 20/month</a:t>
            </a:r>
          </a:p>
          <a:p>
            <a:r>
              <a:rPr lang="en-US" sz="2000">
                <a:latin typeface="Calibri" panose="020F0502020204030204" pitchFamily="34" charset="0"/>
              </a:rPr>
              <a:t>Paid conversions: 8-12/month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68E15-7F3E-AE8E-A8DB-0CC05A150ED5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EAF21-FAE3-2FC6-DD96-A97A72198AA3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7</a:t>
            </a:r>
          </a:p>
        </p:txBody>
      </p:sp>
    </p:spTree>
    <p:extLst>
      <p:ext uri="{BB962C8B-B14F-4D97-AF65-F5344CB8AC3E}">
        <p14:creationId xmlns:p14="http://schemas.microsoft.com/office/powerpoint/2010/main" val="3291383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F6A7A3-17E2-5432-E356-0640914DF45C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Competitive Positioning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ADD0D-04F1-FC1D-9AEB-0E90BFFD0F4D}"/>
              </a:ext>
            </a:extLst>
          </p:cNvPr>
          <p:cNvSpPr txBox="1"/>
          <p:nvPr/>
        </p:nvSpPr>
        <p:spPr>
          <a:xfrm>
            <a:off x="609600" y="1270000"/>
            <a:ext cx="10668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â€¢ Better workflow depth for SMB recruiters</a:t>
            </a:r>
          </a:p>
          <a:p>
            <a:r>
              <a:rPr lang="en-US" sz="2000">
                <a:latin typeface="Calibri" panose="020F0502020204030204" pitchFamily="34" charset="0"/>
              </a:rPr>
              <a:t>â€¢ Strong price-to-value compared to legacy ATS</a:t>
            </a:r>
          </a:p>
          <a:p>
            <a:r>
              <a:rPr lang="en-US" sz="2000">
                <a:latin typeface="Calibri" panose="020F0502020204030204" pitchFamily="34" charset="0"/>
              </a:rPr>
              <a:t>â€¢ AI embedded into daily recruiter actions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92909-8323-6B7A-9F7B-07E41495A084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ABDCA-AD3B-3A4B-E2A4-106F155EA568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8</a:t>
            </a:r>
          </a:p>
        </p:txBody>
      </p:sp>
    </p:spTree>
    <p:extLst>
      <p:ext uri="{BB962C8B-B14F-4D97-AF65-F5344CB8AC3E}">
        <p14:creationId xmlns:p14="http://schemas.microsoft.com/office/powerpoint/2010/main" val="8154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BF25D8-F196-6402-9E3F-C44015DB0B69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Roadmap and Milestones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F9904-99B2-3AF0-7919-6B6812209C92}"/>
              </a:ext>
            </a:extLst>
          </p:cNvPr>
          <p:cNvSpPr txBox="1"/>
          <p:nvPr/>
        </p:nvSpPr>
        <p:spPr>
          <a:xfrm>
            <a:off x="609600" y="1270000"/>
            <a:ext cx="10668000" cy="16312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M1: Local app ready</a:t>
            </a:r>
          </a:p>
          <a:p>
            <a:r>
              <a:rPr lang="en-US" sz="2000">
                <a:latin typeface="Calibri" panose="020F0502020204030204" pitchFamily="34" charset="0"/>
              </a:rPr>
              <a:t>M2: Core SaaS complete</a:t>
            </a:r>
          </a:p>
          <a:p>
            <a:r>
              <a:rPr lang="en-US" sz="2000">
                <a:latin typeface="Calibri" panose="020F0502020204030204" pitchFamily="34" charset="0"/>
              </a:rPr>
              <a:t>M3: Pilot-ready build</a:t>
            </a:r>
          </a:p>
          <a:p>
            <a:r>
              <a:rPr lang="en-US" sz="2000">
                <a:latin typeface="Calibri" panose="020F0502020204030204" pitchFamily="34" charset="0"/>
              </a:rPr>
              <a:t>M4: Launch-ready build</a:t>
            </a:r>
          </a:p>
          <a:p>
            <a:r>
              <a:rPr lang="en-US" sz="2000">
                <a:latin typeface="Calibri" panose="020F0502020204030204" pitchFamily="34" charset="0"/>
              </a:rPr>
              <a:t>M12: 100 paying customers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33CF3-85E8-0E5F-55BE-47E4E886749B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57AC1-7A93-6D75-D9F8-238161D489F7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9</a:t>
            </a:r>
          </a:p>
        </p:txBody>
      </p:sp>
    </p:spTree>
    <p:extLst>
      <p:ext uri="{BB962C8B-B14F-4D97-AF65-F5344CB8AC3E}">
        <p14:creationId xmlns:p14="http://schemas.microsoft.com/office/powerpoint/2010/main" val="153612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8800A3-839A-A554-8EA9-1C819C7BFBFF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Financial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236C9-8EE7-D4EA-53BB-CF5400DA192B}"/>
              </a:ext>
            </a:extLst>
          </p:cNvPr>
          <p:cNvSpPr txBox="1"/>
          <p:nvPr/>
        </p:nvSpPr>
        <p:spPr>
          <a:xfrm>
            <a:off x="609600" y="1270000"/>
            <a:ext cx="10668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Target MRR at 100 customers: INR 6.1L</a:t>
            </a:r>
          </a:p>
          <a:p>
            <a:r>
              <a:rPr lang="en-US" sz="2000">
                <a:latin typeface="Calibri" panose="020F0502020204030204" pitchFamily="34" charset="0"/>
              </a:rPr>
              <a:t>Target ARR at 100 customers: INR 73.2L</a:t>
            </a:r>
          </a:p>
          <a:p>
            <a:r>
              <a:rPr lang="en-US" sz="2000">
                <a:latin typeface="Calibri" panose="020F0502020204030204" pitchFamily="34" charset="0"/>
              </a:rPr>
              <a:t>Monthly burn at full ramp: INR 17.9L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CAFF88-DD94-42FB-FC92-6FB1640EAB80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7DEB3-80E1-F76D-42B1-C02C99BA5DAE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10</a:t>
            </a:r>
          </a:p>
        </p:txBody>
      </p:sp>
    </p:spTree>
    <p:extLst>
      <p:ext uri="{BB962C8B-B14F-4D97-AF65-F5344CB8AC3E}">
        <p14:creationId xmlns:p14="http://schemas.microsoft.com/office/powerpoint/2010/main" val="1777556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76E993-0003-3B01-BCDC-7F1CDE044207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Funding 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B5CFE-830F-0B53-259B-8F0E4F75A9DF}"/>
              </a:ext>
            </a:extLst>
          </p:cNvPr>
          <p:cNvSpPr txBox="1"/>
          <p:nvPr/>
        </p:nvSpPr>
        <p:spPr>
          <a:xfrm>
            <a:off x="609600" y="1270000"/>
            <a:ext cx="10668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Raising INR 2.2 Cr for 12-month runway</a:t>
            </a:r>
          </a:p>
          <a:p>
            <a:r>
              <a:rPr lang="en-US" sz="2000">
                <a:latin typeface="Calibri" panose="020F0502020204030204" pitchFamily="34" charset="0"/>
              </a:rPr>
              <a:t>Use of funds: 52% product, 28% GTM, 8% cloud/ops, 2% legal, 10% reserve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1F6E2-EB6C-3E9E-84A2-E0724D9ADA59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5EC50-A549-A0F5-FE01-412EA991A24C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11</a:t>
            </a:r>
          </a:p>
        </p:txBody>
      </p:sp>
    </p:spTree>
    <p:extLst>
      <p:ext uri="{BB962C8B-B14F-4D97-AF65-F5344CB8AC3E}">
        <p14:creationId xmlns:p14="http://schemas.microsoft.com/office/powerpoint/2010/main" val="1813245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E269FA-E483-4632-9201-C27A199576F4}"/>
              </a:ext>
            </a:extLst>
          </p:cNvPr>
          <p:cNvSpPr txBox="1"/>
          <p:nvPr/>
        </p:nvSpPr>
        <p:spPr>
          <a:xfrm>
            <a:off x="457200" y="254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latin typeface="Calibri" panose="020F0502020204030204" pitchFamily="34" charset="0"/>
              </a:rPr>
              <a:t>Team and Closing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8702F-7C40-3C91-A562-707435F1C49F}"/>
              </a:ext>
            </a:extLst>
          </p:cNvPr>
          <p:cNvSpPr txBox="1"/>
          <p:nvPr/>
        </p:nvSpPr>
        <p:spPr>
          <a:xfrm>
            <a:off x="609600" y="1270000"/>
            <a:ext cx="10668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latin typeface="Calibri" panose="020F0502020204030204" pitchFamily="34" charset="0"/>
              </a:rPr>
              <a:t>Core: 2 Frontend, 2 Backend, 1 QA, 1 DevOps/Sec, 1 PM, 1 UI/UX</a:t>
            </a:r>
          </a:p>
          <a:p>
            <a:r>
              <a:rPr lang="en-US" sz="2000">
                <a:latin typeface="Calibri" panose="020F0502020204030204" pitchFamily="34" charset="0"/>
              </a:rPr>
              <a:t>GTM: 1 Sales Lead, 2 Sales Exec, 1 Customer Success, 1 Marketer</a:t>
            </a:r>
          </a:p>
          <a:p>
            <a:r>
              <a:rPr lang="en-US" sz="2000">
                <a:latin typeface="Calibri" panose="020F0502020204030204" pitchFamily="34" charset="0"/>
              </a:rPr>
              <a:t>Commitment: launch-ready in 4 months</a:t>
            </a:r>
          </a:p>
          <a:p>
            <a:r>
              <a:rPr lang="en-US" sz="2000">
                <a:latin typeface="Calibri" panose="020F0502020204030204" pitchFamily="34" charset="0"/>
              </a:rPr>
              <a:t>Request: proceed to due diligence</a:t>
            </a:r>
            <a:endParaRPr lang="en-IN" sz="200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799A6-B0B4-FF18-6BD5-ACEA56D8F275}"/>
              </a:ext>
            </a:extLst>
          </p:cNvPr>
          <p:cNvSpPr txBox="1"/>
          <p:nvPr/>
        </p:nvSpPr>
        <p:spPr>
          <a:xfrm>
            <a:off x="457200" y="6350000"/>
            <a:ext cx="317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/>
              <a:t>AlcoveHire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6F199-6AC9-8677-4B58-36011AFC9D48}"/>
              </a:ext>
            </a:extLst>
          </p:cNvPr>
          <p:cNvSpPr txBox="1"/>
          <p:nvPr/>
        </p:nvSpPr>
        <p:spPr>
          <a:xfrm>
            <a:off x="7112000" y="6350000"/>
            <a:ext cx="457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/>
              <a:t>Confidential | Jul 2026 | 12</a:t>
            </a:r>
          </a:p>
        </p:txBody>
      </p:sp>
    </p:spTree>
    <p:extLst>
      <p:ext uri="{BB962C8B-B14F-4D97-AF65-F5344CB8AC3E}">
        <p14:creationId xmlns:p14="http://schemas.microsoft.com/office/powerpoint/2010/main" val="1448806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Koul</dc:creator>
  <cp:lastModifiedBy>Atul Koul</cp:lastModifiedBy>
  <cp:revision>1</cp:revision>
  <dcterms:created xsi:type="dcterms:W3CDTF">2026-07-22T19:09:15Z</dcterms:created>
  <dcterms:modified xsi:type="dcterms:W3CDTF">2026-07-22T19:09:15Z</dcterms:modified>
</cp:coreProperties>
</file>